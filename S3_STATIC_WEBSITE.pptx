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9" d="100"/>
          <a:sy n="79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99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9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77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30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1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56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4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5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3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B01C3-23FA-454D-9547-CE0E2ACF0AC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3DA62-63DC-4732-A088-82304D36E9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21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756"/>
            <a:ext cx="12191999" cy="70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0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8892" y="548640"/>
            <a:ext cx="11013948" cy="1737360"/>
          </a:xfrm>
          <a:solidFill>
            <a:schemeClr val="tx1"/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1500" b="1" u="sng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smtClean="0">
                <a:solidFill>
                  <a:schemeClr val="bg1"/>
                </a:solidFill>
                <a:cs typeface="Arial" panose="020B0604020202020204" pitchFamily="34" charset="0"/>
              </a:rPr>
              <a:t>Welcome</a:t>
            </a:r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to your comprehensive guide to AWS S3 static website hosting!</a:t>
            </a:r>
            <a:r>
              <a:rPr lang="en-US" sz="1800" dirty="0" smtClean="0">
                <a:solidFill>
                  <a:schemeClr val="accent1"/>
                </a:solidFill>
                <a:cs typeface="Arial" panose="020B0604020202020204" pitchFamily="34" charset="0"/>
              </a:rPr>
              <a:t>🌐</a:t>
            </a:r>
            <a:r>
              <a:rPr lang="en-US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 While this tutorial focuses on a development-friendly approach without complex policies , It’s designed to give you a solid foundation in AWS S3  capabilities. Perfect the prototypes , personal projects, and learning environment.</a:t>
            </a:r>
            <a:endParaRPr lang="en-IN" sz="1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8892" y="2491740"/>
            <a:ext cx="105338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Prerequisites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Before we begin, ensure you have: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 🌐 </a:t>
            </a:r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>
                <a:solidFill>
                  <a:schemeClr val="bg1"/>
                </a:solidFill>
              </a:rPr>
              <a:t>AWS account with administrative access 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💻</a:t>
            </a:r>
            <a:r>
              <a:rPr lang="en-IN" dirty="0" smtClean="0">
                <a:solidFill>
                  <a:schemeClr val="bg1"/>
                </a:solidFill>
              </a:rPr>
              <a:t> Basic </a:t>
            </a:r>
            <a:r>
              <a:rPr lang="en-IN" dirty="0">
                <a:solidFill>
                  <a:schemeClr val="bg1"/>
                </a:solidFill>
              </a:rPr>
              <a:t>understanding of HTML/CSS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rgbClr val="FFC000"/>
                </a:solidFill>
              </a:rPr>
              <a:t>📁</a:t>
            </a:r>
            <a:r>
              <a:rPr lang="en-US" dirty="0" smtClean="0">
                <a:solidFill>
                  <a:schemeClr val="bg1"/>
                </a:solidFill>
              </a:rPr>
              <a:t> Your </a:t>
            </a:r>
            <a:r>
              <a:rPr lang="en-US" dirty="0">
                <a:solidFill>
                  <a:schemeClr val="bg1"/>
                </a:solidFill>
              </a:rPr>
              <a:t>website files ready for deployment 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rgbClr val="00B050"/>
                </a:solidFill>
              </a:rPr>
              <a:t>🌍 </a:t>
            </a:r>
            <a:r>
              <a:rPr lang="en-IN" dirty="0" smtClean="0">
                <a:solidFill>
                  <a:schemeClr val="bg1"/>
                </a:solidFill>
              </a:rPr>
              <a:t>A </a:t>
            </a:r>
            <a:r>
              <a:rPr lang="en-IN" dirty="0">
                <a:solidFill>
                  <a:schemeClr val="bg1"/>
                </a:solidFill>
              </a:rPr>
              <a:t>modern web browser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  ☁️ Basic </a:t>
            </a:r>
            <a:r>
              <a:rPr lang="en-US" dirty="0">
                <a:solidFill>
                  <a:schemeClr val="bg1"/>
                </a:solidFill>
              </a:rPr>
              <a:t>familiarity with cloud concepts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030" y="6309359"/>
            <a:ext cx="5664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   S3 </a:t>
            </a:r>
            <a:r>
              <a:rPr lang="en-US" sz="1400" dirty="0">
                <a:solidFill>
                  <a:schemeClr val="bg1"/>
                </a:solidFill>
              </a:rPr>
              <a:t>BUCKET WITHOUT POLICY PROJECT </a:t>
            </a:r>
            <a:r>
              <a:rPr lang="en-US" sz="1400" dirty="0" smtClean="0">
                <a:solidFill>
                  <a:schemeClr val="bg1"/>
                </a:solidFill>
              </a:rPr>
              <a:t>DOCUMENTAITON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765" y="145774"/>
            <a:ext cx="11873947" cy="6573078"/>
          </a:xfrm>
          <a:prstGeom prst="rect">
            <a:avLst/>
          </a:prstGeom>
          <a:noFill/>
          <a:ln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490330" y="6309358"/>
            <a:ext cx="4267200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69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790" y="126586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Security Notice</a:t>
            </a:r>
            <a:endParaRPr lang="en-IN" sz="20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790" y="656845"/>
            <a:ext cx="9903184" cy="5216843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This </a:t>
            </a:r>
            <a:r>
              <a:rPr lang="en-US" sz="1800" dirty="0">
                <a:solidFill>
                  <a:schemeClr val="bg1"/>
                </a:solidFill>
              </a:rPr>
              <a:t>guide prioritizes rapid development over production-grade security. For production deployments, you should implement: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🛑 </a:t>
            </a:r>
            <a:r>
              <a:rPr lang="en-US" sz="1800" dirty="0" smtClean="0">
                <a:solidFill>
                  <a:schemeClr val="bg1"/>
                </a:solidFill>
              </a:rPr>
              <a:t>Bucket </a:t>
            </a:r>
            <a:r>
              <a:rPr lang="en-US" sz="1800" dirty="0">
                <a:solidFill>
                  <a:schemeClr val="bg1"/>
                </a:solidFill>
              </a:rPr>
              <a:t>policies for fine-grained access control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B0F0"/>
                </a:solidFill>
              </a:rPr>
              <a:t>🌍 </a:t>
            </a:r>
            <a:r>
              <a:rPr lang="en-US" sz="1800" dirty="0" smtClean="0">
                <a:solidFill>
                  <a:schemeClr val="bg1"/>
                </a:solidFill>
              </a:rPr>
              <a:t>Cloud Front </a:t>
            </a:r>
            <a:r>
              <a:rPr lang="en-US" sz="1800" dirty="0">
                <a:solidFill>
                  <a:schemeClr val="bg1"/>
                </a:solidFill>
              </a:rPr>
              <a:t>distribution for content delivery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B0F0"/>
                </a:solidFill>
              </a:rPr>
              <a:t>🔒 </a:t>
            </a:r>
            <a:r>
              <a:rPr lang="en-IN" sz="1800" dirty="0" smtClean="0">
                <a:solidFill>
                  <a:schemeClr val="bg1"/>
                </a:solidFill>
              </a:rPr>
              <a:t>SSL/TLS </a:t>
            </a:r>
            <a:r>
              <a:rPr lang="en-IN" sz="1800" dirty="0">
                <a:solidFill>
                  <a:schemeClr val="bg1"/>
                </a:solidFill>
              </a:rPr>
              <a:t>certificates via AWS Certificate Manager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 🔐 WAF </a:t>
            </a:r>
            <a:r>
              <a:rPr lang="en-US" sz="1800" dirty="0">
                <a:solidFill>
                  <a:schemeClr val="bg1"/>
                </a:solidFill>
              </a:rPr>
              <a:t>rules for additional security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🔑 Proper </a:t>
            </a:r>
            <a:r>
              <a:rPr lang="en-US" sz="1800" dirty="0">
                <a:solidFill>
                  <a:schemeClr val="bg1"/>
                </a:solidFill>
              </a:rPr>
              <a:t>IAM roles and </a:t>
            </a:r>
            <a:r>
              <a:rPr lang="en-US" sz="1800" dirty="0" smtClean="0">
                <a:solidFill>
                  <a:schemeClr val="bg1"/>
                </a:solidFill>
              </a:rPr>
              <a:t>permissions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B050"/>
                </a:solidFill>
              </a:rPr>
              <a:t>📖 </a:t>
            </a:r>
            <a:r>
              <a:rPr lang="en-US" sz="1800" dirty="0">
                <a:solidFill>
                  <a:schemeClr val="bg1"/>
                </a:solidFill>
              </a:rPr>
              <a:t>Importance : </a:t>
            </a:r>
            <a:r>
              <a:rPr lang="en-US" sz="1800" dirty="0" smtClean="0">
                <a:solidFill>
                  <a:schemeClr val="bg1"/>
                </a:solidFill>
              </a:rPr>
              <a:t>This </a:t>
            </a:r>
            <a:r>
              <a:rPr lang="en-US" sz="1800" dirty="0">
                <a:solidFill>
                  <a:schemeClr val="bg1"/>
                </a:solidFill>
              </a:rPr>
              <a:t>documentation is designed for educational and demonstration purposes only. While it provides a quick and easy way to host a website using Amazon S3, it does not include the security configurations required for production workloads. Always apply appropriate security measures and access controls before deploying applications in a live </a:t>
            </a:r>
            <a:r>
              <a:rPr lang="en-US" sz="1800" dirty="0" smtClean="0">
                <a:solidFill>
                  <a:schemeClr val="bg1"/>
                </a:solidFill>
              </a:rPr>
              <a:t>environment.</a:t>
            </a:r>
            <a:r>
              <a:rPr lang="en-US" sz="1800" dirty="0" smtClean="0">
                <a:solidFill>
                  <a:srgbClr val="0070C0"/>
                </a:solidFill>
              </a:rPr>
              <a:t>🌎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2278" y="126586"/>
            <a:ext cx="11794435" cy="6552510"/>
          </a:xfrm>
          <a:prstGeom prst="rect">
            <a:avLst/>
          </a:prstGeom>
          <a:noFill/>
          <a:ln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Alternate Process 4"/>
          <p:cNvSpPr/>
          <p:nvPr/>
        </p:nvSpPr>
        <p:spPr>
          <a:xfrm>
            <a:off x="490329" y="6250058"/>
            <a:ext cx="4426227" cy="304711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90329" y="6185437"/>
            <a:ext cx="4638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5851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5530"/>
            <a:ext cx="11788726" cy="6533322"/>
          </a:xfrm>
          <a:prstGeom prst="rect">
            <a:avLst/>
          </a:prstGeom>
          <a:noFill/>
          <a:ln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51692" y="365760"/>
            <a:ext cx="110994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chemeClr val="bg1"/>
                </a:solidFill>
              </a:rPr>
              <a:t>📌 Detailed implementation Guide </a:t>
            </a:r>
          </a:p>
          <a:p>
            <a:endParaRPr lang="en-US" sz="2000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1.</a:t>
            </a:r>
            <a:r>
              <a:rPr lang="en-US" sz="2000" b="1" u="sng" dirty="0" smtClean="0">
                <a:solidFill>
                  <a:schemeClr val="bg1"/>
                </a:solidFill>
              </a:rPr>
              <a:t>AWS Management Console Access 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  Navigate to the management console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5"/>
          <a:stretch/>
        </p:blipFill>
        <p:spPr>
          <a:xfrm>
            <a:off x="548640" y="1996976"/>
            <a:ext cx="10705514" cy="3958526"/>
          </a:xfrm>
          <a:prstGeom prst="rect">
            <a:avLst/>
          </a:prstGeom>
        </p:spPr>
      </p:pic>
      <p:sp>
        <p:nvSpPr>
          <p:cNvPr id="5" name="Flowchart: Alternate Process 4"/>
          <p:cNvSpPr/>
          <p:nvPr/>
        </p:nvSpPr>
        <p:spPr>
          <a:xfrm>
            <a:off x="490329" y="6309358"/>
            <a:ext cx="4320209" cy="3034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90329" y="6283830"/>
            <a:ext cx="472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3322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00921"/>
            <a:ext cx="11830929" cy="65133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31304" y="291547"/>
            <a:ext cx="11211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chemeClr val="bg1"/>
                </a:solidFill>
              </a:rPr>
              <a:t>2. Location S3 Service :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   Access S3 Through :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   - AWS Console Search: Type “S3” </a:t>
            </a:r>
            <a:r>
              <a:rPr lang="en-US" b="1" i="1" dirty="0" smtClean="0">
                <a:solidFill>
                  <a:schemeClr val="bg1"/>
                </a:solidFill>
              </a:rPr>
              <a:t>OR “Simple Storage Service”.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9"/>
          <a:stretch/>
        </p:blipFill>
        <p:spPr>
          <a:xfrm>
            <a:off x="397564" y="1405503"/>
            <a:ext cx="11078817" cy="4196429"/>
          </a:xfrm>
          <a:prstGeom prst="rect">
            <a:avLst/>
          </a:prstGeom>
        </p:spPr>
      </p:pic>
      <p:sp>
        <p:nvSpPr>
          <p:cNvPr id="5" name="Flowchart: Alternate Process 4"/>
          <p:cNvSpPr/>
          <p:nvPr/>
        </p:nvSpPr>
        <p:spPr>
          <a:xfrm>
            <a:off x="397564" y="6107703"/>
            <a:ext cx="4399722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31305" y="6122505"/>
            <a:ext cx="4465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6365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948" y="196948"/>
            <a:ext cx="11718387" cy="64148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76975" y="319802"/>
            <a:ext cx="111583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3. </a:t>
            </a:r>
            <a:r>
              <a:rPr lang="en-US" sz="2000" b="1" u="sng" dirty="0" smtClean="0">
                <a:solidFill>
                  <a:schemeClr val="bg1"/>
                </a:solidFill>
              </a:rPr>
              <a:t>Bucket Creation And Configuration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    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 Essential Settings: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Bucket Naming Conventions.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Must be globally unique across all AWS.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3-63 Characters Long.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Should be DNS – Compatible.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Can contain lowercase Letters , Numbers , Dots , And Hyphens.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Configuration Steps :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Click Create Bucket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3" t="11238" r="21249" b="4458"/>
          <a:stretch/>
        </p:blipFill>
        <p:spPr>
          <a:xfrm>
            <a:off x="1630019" y="3736122"/>
            <a:ext cx="2478157" cy="1895061"/>
          </a:xfrm>
          <a:prstGeom prst="rect">
            <a:avLst/>
          </a:prstGeom>
        </p:spPr>
      </p:pic>
      <p:sp>
        <p:nvSpPr>
          <p:cNvPr id="5" name="Flowchart: Alternate Process 4"/>
          <p:cNvSpPr/>
          <p:nvPr/>
        </p:nvSpPr>
        <p:spPr>
          <a:xfrm>
            <a:off x="476975" y="6176836"/>
            <a:ext cx="4267200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91631" y="6176836"/>
            <a:ext cx="4625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7190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131502"/>
            <a:ext cx="11702689" cy="6521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37320" y="174283"/>
            <a:ext cx="11171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chemeClr val="bg1"/>
                </a:solidFill>
              </a:rPr>
              <a:t>Enter bucket name following </a:t>
            </a:r>
            <a:r>
              <a:rPr lang="en-US" sz="2000" b="1" dirty="0" err="1" smtClean="0">
                <a:solidFill>
                  <a:schemeClr val="bg1"/>
                </a:solidFill>
              </a:rPr>
              <a:t>Convenations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320" y="2936384"/>
            <a:ext cx="104427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chemeClr val="bg1"/>
                </a:solidFill>
              </a:rPr>
              <a:t>Configure Object Ownership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    - Select ALC’s enabled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1" y="3521693"/>
            <a:ext cx="10840279" cy="2622202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18" y="543616"/>
            <a:ext cx="10840279" cy="2469382"/>
          </a:xfrm>
          <a:prstGeom prst="rect">
            <a:avLst/>
          </a:prstGeom>
        </p:spPr>
      </p:pic>
      <p:sp>
        <p:nvSpPr>
          <p:cNvPr id="7" name="Flowchart: Alternate Process 6"/>
          <p:cNvSpPr/>
          <p:nvPr/>
        </p:nvSpPr>
        <p:spPr>
          <a:xfrm>
            <a:off x="437319" y="6244354"/>
            <a:ext cx="4333463" cy="262463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37319" y="6209557"/>
            <a:ext cx="450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0635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7884" y="191138"/>
            <a:ext cx="11815333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37322" y="286388"/>
            <a:ext cx="6228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-Choose Bucket owner Preferred: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22" y="706546"/>
            <a:ext cx="10972800" cy="1908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683652"/>
            <a:ext cx="7752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2000" b="1" u="sng" dirty="0" smtClean="0">
                <a:solidFill>
                  <a:schemeClr val="bg1"/>
                </a:solidFill>
              </a:rPr>
              <a:t>Public Access Setting :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      - </a:t>
            </a:r>
            <a:r>
              <a:rPr lang="en-US" dirty="0" smtClean="0">
                <a:solidFill>
                  <a:schemeClr val="bg1"/>
                </a:solidFill>
              </a:rPr>
              <a:t>Uncheck all blocks Public Access Options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22" y="3376851"/>
            <a:ext cx="10972800" cy="2453094"/>
          </a:xfrm>
          <a:prstGeom prst="rect">
            <a:avLst/>
          </a:prstGeom>
        </p:spPr>
      </p:pic>
      <p:sp>
        <p:nvSpPr>
          <p:cNvPr id="7" name="Flowchart: Alternate Process 6"/>
          <p:cNvSpPr/>
          <p:nvPr/>
        </p:nvSpPr>
        <p:spPr>
          <a:xfrm>
            <a:off x="437321" y="6108216"/>
            <a:ext cx="4373217" cy="358475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37321" y="6133564"/>
            <a:ext cx="4532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3831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171259"/>
            <a:ext cx="11676185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574" y="344557"/>
            <a:ext cx="519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</a:t>
            </a:r>
            <a:r>
              <a:rPr lang="en-US" dirty="0" err="1" smtClean="0">
                <a:solidFill>
                  <a:schemeClr val="bg1"/>
                </a:solidFill>
              </a:rPr>
              <a:t>Aknowledge</a:t>
            </a:r>
            <a:r>
              <a:rPr lang="en-US" dirty="0" smtClean="0">
                <a:solidFill>
                  <a:schemeClr val="bg1"/>
                </a:solidFill>
              </a:rPr>
              <a:t> The Public Access Warning</a:t>
            </a:r>
          </a:p>
          <a:p>
            <a:pPr marL="285750" indent="-285750">
              <a:buFontTx/>
              <a:buChar char="-"/>
            </a:pP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84" y="836974"/>
            <a:ext cx="10668001" cy="1132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0574" y="2103190"/>
            <a:ext cx="425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Click the “Create Bucket” Button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84" y="2443546"/>
            <a:ext cx="10668001" cy="34669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31896" y="5632175"/>
            <a:ext cx="1086678" cy="278296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Alternate Process 8"/>
          <p:cNvSpPr/>
          <p:nvPr/>
        </p:nvSpPr>
        <p:spPr>
          <a:xfrm>
            <a:off x="450573" y="6099105"/>
            <a:ext cx="4373217" cy="28575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50574" y="6109252"/>
            <a:ext cx="4386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288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259" y="132522"/>
            <a:ext cx="11835211" cy="65995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78296" y="119150"/>
            <a:ext cx="490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Upload Steps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Navigate to bucket content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95" y="765481"/>
            <a:ext cx="10853530" cy="2653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296" y="3406893"/>
            <a:ext cx="287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Click Upload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95" y="3776225"/>
            <a:ext cx="10853531" cy="2414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80990" y="5653664"/>
            <a:ext cx="1152939" cy="3975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Alternate Process 7"/>
          <p:cNvSpPr/>
          <p:nvPr/>
        </p:nvSpPr>
        <p:spPr>
          <a:xfrm>
            <a:off x="430695" y="6307496"/>
            <a:ext cx="4499114" cy="240453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43339" y="6263748"/>
            <a:ext cx="4638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623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762" y="211016"/>
            <a:ext cx="11676185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54" y="1230445"/>
            <a:ext cx="10972800" cy="44292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4070" y="382800"/>
            <a:ext cx="5433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Configure upload settings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      </a:t>
            </a:r>
            <a:r>
              <a:rPr lang="en-US" dirty="0" smtClean="0">
                <a:solidFill>
                  <a:schemeClr val="bg1"/>
                </a:solidFill>
              </a:rPr>
              <a:t>- Drag files or use file browser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210" y="5141843"/>
            <a:ext cx="914400" cy="33130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02956" y="3074011"/>
            <a:ext cx="940904" cy="37106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Alternate Process 6"/>
          <p:cNvSpPr/>
          <p:nvPr/>
        </p:nvSpPr>
        <p:spPr>
          <a:xfrm>
            <a:off x="424069" y="6123827"/>
            <a:ext cx="4399721" cy="31673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24070" y="6139543"/>
            <a:ext cx="438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9688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171259"/>
            <a:ext cx="11676185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3" y="545848"/>
            <a:ext cx="10721008" cy="52321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4887" y="1974574"/>
            <a:ext cx="2252870" cy="291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Alternate Process 4"/>
          <p:cNvSpPr/>
          <p:nvPr/>
        </p:nvSpPr>
        <p:spPr>
          <a:xfrm>
            <a:off x="462564" y="6021115"/>
            <a:ext cx="4414236" cy="321628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91886" y="6037943"/>
            <a:ext cx="445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4433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238539"/>
            <a:ext cx="11676185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71061" y="344557"/>
            <a:ext cx="384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Enable Public - read </a:t>
            </a:r>
            <a:r>
              <a:rPr lang="en-US" dirty="0" err="1" smtClean="0">
                <a:solidFill>
                  <a:schemeClr val="bg1"/>
                </a:solidFill>
              </a:rPr>
              <a:t>acess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5" y="770881"/>
            <a:ext cx="10866782" cy="35032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365" y="2888974"/>
            <a:ext cx="5102087" cy="318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940904" y="3684105"/>
            <a:ext cx="3525079" cy="265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71061" y="4331110"/>
            <a:ext cx="398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 </a:t>
            </a:r>
            <a:r>
              <a:rPr lang="en-US" dirty="0" err="1" smtClean="0">
                <a:solidFill>
                  <a:schemeClr val="bg1"/>
                </a:solidFill>
              </a:rPr>
              <a:t>Aknowledge</a:t>
            </a:r>
            <a:r>
              <a:rPr lang="en-US" dirty="0" smtClean="0">
                <a:solidFill>
                  <a:schemeClr val="bg1"/>
                </a:solidFill>
              </a:rPr>
              <a:t> Public Access Setting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72"/>
          <a:stretch/>
        </p:blipFill>
        <p:spPr>
          <a:xfrm>
            <a:off x="516835" y="4832885"/>
            <a:ext cx="10866782" cy="526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1061" y="5485224"/>
            <a:ext cx="271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Uploading Process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" name="Flowchart: Alternate Process 9"/>
          <p:cNvSpPr/>
          <p:nvPr/>
        </p:nvSpPr>
        <p:spPr>
          <a:xfrm>
            <a:off x="516835" y="6143847"/>
            <a:ext cx="4267200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456404" y="6155118"/>
            <a:ext cx="449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8873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171259"/>
            <a:ext cx="11676185" cy="6400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2" y="674856"/>
            <a:ext cx="10893287" cy="23911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574" y="344557"/>
            <a:ext cx="3803374" cy="371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Click On index.html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9844" y="2054087"/>
            <a:ext cx="834887" cy="251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1" y="3278014"/>
            <a:ext cx="10893287" cy="27129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69496" y="5035826"/>
            <a:ext cx="4518991" cy="397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Alternate Process 7"/>
          <p:cNvSpPr/>
          <p:nvPr/>
        </p:nvSpPr>
        <p:spPr>
          <a:xfrm>
            <a:off x="450571" y="6172720"/>
            <a:ext cx="4267200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85571" y="6172720"/>
            <a:ext cx="439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8030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212035"/>
            <a:ext cx="11676185" cy="642730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7" y="849867"/>
            <a:ext cx="10906539" cy="49828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7809" y="346285"/>
            <a:ext cx="446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chemeClr val="bg1"/>
                </a:solidFill>
              </a:rPr>
              <a:t>S3 Website Hosting Successfully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457200" y="6162739"/>
            <a:ext cx="4267200" cy="307777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57200" y="6162739"/>
            <a:ext cx="4465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S3 BUCKET WITHOUT POLICY PROJECT DOCUMENTAITON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7479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486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Important Security Notice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S3 STATIC WEBSITE: DEVELOPMEN-FIRST APPROACH</dc:title>
  <dc:creator>Lenovolaptop</dc:creator>
  <cp:lastModifiedBy>Lenovolaptop</cp:lastModifiedBy>
  <cp:revision>37</cp:revision>
  <dcterms:created xsi:type="dcterms:W3CDTF">2026-06-17T10:20:40Z</dcterms:created>
  <dcterms:modified xsi:type="dcterms:W3CDTF">2026-08-05T08:38:21Z</dcterms:modified>
</cp:coreProperties>
</file>