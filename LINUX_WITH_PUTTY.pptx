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44" autoAdjust="0"/>
    <p:restoredTop sz="94660"/>
  </p:normalViewPr>
  <p:slideViewPr>
    <p:cSldViewPr snapToGrid="0">
      <p:cViewPr varScale="1">
        <p:scale>
          <a:sx n="72" d="100"/>
          <a:sy n="72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313BD-986E-4C65-B633-172EAC923B9C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13AED9-B365-4A1D-B7C0-EA5FA7345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79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3F45B-89DB-4B67-A3E8-9EB70EABF94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62128-F706-4917-B5DF-5A3A767739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41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3F45B-89DB-4B67-A3E8-9EB70EABF94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62128-F706-4917-B5DF-5A3A767739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31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3F45B-89DB-4B67-A3E8-9EB70EABF94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62128-F706-4917-B5DF-5A3A767739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195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3F45B-89DB-4B67-A3E8-9EB70EABF94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62128-F706-4917-B5DF-5A3A767739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87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3F45B-89DB-4B67-A3E8-9EB70EABF94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62128-F706-4917-B5DF-5A3A767739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33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3F45B-89DB-4B67-A3E8-9EB70EABF94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62128-F706-4917-B5DF-5A3A767739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47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3F45B-89DB-4B67-A3E8-9EB70EABF94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62128-F706-4917-B5DF-5A3A767739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511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3F45B-89DB-4B67-A3E8-9EB70EABF94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62128-F706-4917-B5DF-5A3A767739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975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3F45B-89DB-4B67-A3E8-9EB70EABF94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62128-F706-4917-B5DF-5A3A767739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109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3F45B-89DB-4B67-A3E8-9EB70EABF94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62128-F706-4917-B5DF-5A3A767739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322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3F45B-89DB-4B67-A3E8-9EB70EABF94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62128-F706-4917-B5DF-5A3A767739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236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3F45B-89DB-4B67-A3E8-9EB70EABF949}" type="datetimeFigureOut">
              <a:rPr lang="en-IN" smtClean="0"/>
              <a:t>16-07-2026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62128-F706-4917-B5DF-5A3A7677398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892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99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154745" y="251792"/>
            <a:ext cx="32600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u="sng" dirty="0" smtClean="0">
                <a:solidFill>
                  <a:schemeClr val="bg1"/>
                </a:solidFill>
              </a:rPr>
              <a:t>PROJECT OVERVIEW </a:t>
            </a:r>
            <a:r>
              <a:rPr lang="en-IN" b="1" dirty="0" smtClean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u="sng" dirty="0" smtClean="0">
              <a:solidFill>
                <a:schemeClr val="bg1"/>
              </a:solidFill>
            </a:endParaRPr>
          </a:p>
          <a:p>
            <a:endParaRPr lang="en-IN" u="sng" dirty="0">
              <a:solidFill>
                <a:schemeClr val="bg1"/>
              </a:solidFill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543426" y="2810883"/>
            <a:ext cx="10773733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Before launching your Linux machine on AWS and connecting via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</a:rPr>
              <a:t>PuTTY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, ensure you have the following </a:t>
            </a:r>
            <a:r>
              <a:rPr lang="en-US" altLang="en-US" sz="1600" dirty="0">
                <a:solidFill>
                  <a:schemeClr val="bg1"/>
                </a:solidFill>
              </a:rPr>
              <a:t>requirement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ready: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AWS Account </a:t>
            </a:r>
            <a:r>
              <a:rPr kumimoji="0" lang="en-US" altLang="en-US" sz="1600" b="1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An active Amazon Web Services account with permissions to launch EC2 instances.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</a:rPr>
              <a:t>PuTTY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Installed </a:t>
            </a:r>
            <a:r>
              <a:rPr kumimoji="0" lang="en-US" altLang="en-US" sz="1600" b="1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The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</a:rPr>
              <a:t>PuTTY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desktop application installed on your local machine (includes both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</a:rPr>
              <a:t>PuTTY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and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</a:rPr>
              <a:t>PuTTYgen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).</a:t>
            </a:r>
            <a:endParaRPr lang="en-US" altLang="en-US" sz="1600" dirty="0">
              <a:solidFill>
                <a:schemeClr val="bg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Network Access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</a:rPr>
              <a:t>🌐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A stable internet connection to access the AWS Management Console and establish the SSH connection.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Key Pair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</a:rPr>
              <a:t>🔑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Access to download the .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</a:rPr>
              <a:t>pem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private key file generated by AWS during instance setup.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Security Group Rules 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Awareness of your local public IP address to restrict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Port 22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access to your machine only (recommended for security).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4745" y="2153490"/>
            <a:ext cx="4421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u="sng" dirty="0" smtClean="0">
                <a:solidFill>
                  <a:schemeClr val="bg1"/>
                </a:solidFill>
              </a:rPr>
              <a:t>REQUIREMENT </a:t>
            </a:r>
            <a:r>
              <a:rPr lang="en-US" b="1" dirty="0" smtClean="0">
                <a:solidFill>
                  <a:srgbClr val="FFFF00"/>
                </a:solidFill>
              </a:rPr>
              <a:t>🔑</a:t>
            </a:r>
            <a:r>
              <a:rPr lang="en-US" dirty="0" smtClean="0">
                <a:solidFill>
                  <a:schemeClr val="bg1"/>
                </a:solidFill>
              </a:rPr>
              <a:t> :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1347" y="6330598"/>
            <a:ext cx="133292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                              BY 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41347" y="746372"/>
            <a:ext cx="1024946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 smtClean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this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we are</a:t>
            </a:r>
            <a:r>
              <a:rPr kumimoji="0" lang="en-US" alt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show</a:t>
            </a:r>
            <a:r>
              <a:rPr kumimoji="0" lang="en-US" altLang="en-US" sz="1600" b="0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how to create a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Linux server on AWS EC2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connect to it securely using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PuTTY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It includes creating an EC2 instance, using a key file, and accessing the server through SSH. This project helps us learn the basics of 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AWS, Linux, and Cloud Computing</a:t>
            </a:r>
            <a:r>
              <a:rPr lang="en-US" altLang="en-US" sz="1600" dirty="0" smtClean="0">
                <a:solidFill>
                  <a:srgbClr val="FFFF00"/>
                </a:solidFill>
                <a:latin typeface="Arial" panose="020B0604020202020204" pitchFamily="34" charset="0"/>
              </a:rPr>
              <a:t> 🚀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232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78297" y="6299137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8297" y="2902923"/>
            <a:ext cx="9076718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bg1"/>
                </a:solidFill>
              </a:rPr>
              <a:t>WHAT IS PUTTY? </a:t>
            </a:r>
            <a:r>
              <a:rPr lang="en-US" b="1" dirty="0" smtClean="0">
                <a:solidFill>
                  <a:schemeClr val="accent1"/>
                </a:solidFill>
              </a:rPr>
              <a:t>💻</a:t>
            </a:r>
            <a:endParaRPr lang="en-IN" b="1" dirty="0">
              <a:solidFill>
                <a:schemeClr val="accent1"/>
              </a:solidFill>
            </a:endParaRPr>
          </a:p>
          <a:p>
            <a:r>
              <a:rPr lang="en-US" sz="1600" dirty="0" smtClean="0">
                <a:solidFill>
                  <a:schemeClr val="bg1"/>
                </a:solidFill>
              </a:rPr>
              <a:t>       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3435" y="3759343"/>
            <a:ext cx="882513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PuTTY</a:t>
            </a:r>
            <a:r>
              <a:rPr lang="en-US" dirty="0">
                <a:solidFill>
                  <a:schemeClr val="bg1"/>
                </a:solidFill>
              </a:rPr>
              <a:t> is a free and open-source SSH client that allows you to securely connect to remote servers</a:t>
            </a:r>
            <a:r>
              <a:rPr lang="en-US" dirty="0" smtClean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chemeClr val="bg1"/>
                </a:solidFill>
              </a:rPr>
              <a:t>typically Linux-based, from a Windows machine. It enables you to access and manage your server via the command line. </a:t>
            </a:r>
            <a:r>
              <a:rPr lang="en-US" dirty="0" smtClean="0">
                <a:solidFill>
                  <a:schemeClr val="accent1"/>
                </a:solidFill>
              </a:rPr>
              <a:t>💻 </a:t>
            </a:r>
            <a:r>
              <a:rPr lang="en-US" dirty="0" smtClean="0">
                <a:solidFill>
                  <a:schemeClr val="accent4"/>
                </a:solidFill>
              </a:rPr>
              <a:t>🔑</a:t>
            </a:r>
            <a:endParaRPr lang="en-IN" dirty="0">
              <a:solidFill>
                <a:schemeClr val="accent4"/>
              </a:solidFill>
            </a:endParaRPr>
          </a:p>
          <a:p>
            <a:endParaRPr lang="en-IN" sz="1600" dirty="0"/>
          </a:p>
        </p:txBody>
      </p:sp>
      <p:sp>
        <p:nvSpPr>
          <p:cNvPr id="6" name="Rectangle 5"/>
          <p:cNvSpPr/>
          <p:nvPr/>
        </p:nvSpPr>
        <p:spPr>
          <a:xfrm>
            <a:off x="278296" y="918832"/>
            <a:ext cx="26106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solidFill>
                  <a:schemeClr val="bg1"/>
                </a:solidFill>
              </a:rPr>
              <a:t>WHAT IS </a:t>
            </a:r>
            <a:r>
              <a:rPr lang="en-IN" b="1" dirty="0" smtClean="0">
                <a:solidFill>
                  <a:schemeClr val="bg1"/>
                </a:solidFill>
              </a:rPr>
              <a:t>LINUX? </a:t>
            </a:r>
            <a:r>
              <a:rPr lang="en-US" b="1" dirty="0" smtClean="0">
                <a:solidFill>
                  <a:srgbClr val="00B0F0"/>
                </a:solidFill>
              </a:rPr>
              <a:t>🌐</a:t>
            </a: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3435" y="1310713"/>
            <a:ext cx="8683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Linux is a free and open-source operating system used to manage computers and servers. It is popular because it is secure, fast, and reliable.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142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78297" y="6299137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8297" y="351692"/>
            <a:ext cx="111868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bg1"/>
                </a:solidFill>
              </a:rPr>
              <a:t>l.  </a:t>
            </a:r>
            <a:r>
              <a:rPr lang="en-US" sz="2000" b="1" u="sng" dirty="0" smtClean="0">
                <a:solidFill>
                  <a:schemeClr val="bg1"/>
                </a:solidFill>
              </a:rPr>
              <a:t>LAUNCH YOUR EC2 INSTANCE ON AWS </a:t>
            </a:r>
            <a:r>
              <a:rPr lang="en-US" dirty="0" smtClean="0">
                <a:solidFill>
                  <a:srgbClr val="FF0000"/>
                </a:solidFill>
              </a:rPr>
              <a:t>🚀</a:t>
            </a:r>
          </a:p>
          <a:p>
            <a:pPr marL="342900" indent="-342900">
              <a:buAutoNum type="arabicPeriod"/>
            </a:pP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       </a:t>
            </a:r>
            <a:r>
              <a:rPr lang="en-US" dirty="0">
                <a:solidFill>
                  <a:schemeClr val="bg1"/>
                </a:solidFill>
              </a:rPr>
              <a:t>1</a:t>
            </a:r>
            <a:r>
              <a:rPr lang="en-US" dirty="0" smtClean="0">
                <a:solidFill>
                  <a:schemeClr val="bg1"/>
                </a:solidFill>
              </a:rPr>
              <a:t>. Log in to your </a:t>
            </a:r>
            <a:r>
              <a:rPr lang="en-US" b="1" dirty="0" smtClean="0">
                <a:solidFill>
                  <a:schemeClr val="bg1"/>
                </a:solidFill>
              </a:rPr>
              <a:t>AWS Management Console. </a:t>
            </a:r>
            <a:r>
              <a:rPr lang="en-US" dirty="0" smtClean="0">
                <a:solidFill>
                  <a:schemeClr val="bg1"/>
                </a:solidFill>
              </a:rPr>
              <a:t>It’s time to get started. 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533" y="1451540"/>
            <a:ext cx="10622636" cy="470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01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78297" y="6299137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8297" y="331304"/>
            <a:ext cx="11171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2. Head over to </a:t>
            </a:r>
            <a:r>
              <a:rPr lang="en-US" b="1" dirty="0" smtClean="0">
                <a:solidFill>
                  <a:schemeClr val="bg1"/>
                </a:solidFill>
              </a:rPr>
              <a:t>EC2 Dashboard </a:t>
            </a:r>
            <a:r>
              <a:rPr lang="en-US" dirty="0" smtClean="0">
                <a:solidFill>
                  <a:schemeClr val="bg1"/>
                </a:solidFill>
              </a:rPr>
              <a:t>under </a:t>
            </a:r>
            <a:r>
              <a:rPr lang="en-US" b="1" dirty="0" smtClean="0">
                <a:solidFill>
                  <a:schemeClr val="bg1"/>
                </a:solidFill>
              </a:rPr>
              <a:t>Services</a:t>
            </a:r>
            <a:r>
              <a:rPr lang="en-US" dirty="0" smtClean="0">
                <a:solidFill>
                  <a:schemeClr val="bg1"/>
                </a:solidFill>
              </a:rPr>
              <a:t> , the heart of your cloud adventure 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122" y="876014"/>
            <a:ext cx="10707756" cy="5087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691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78297" y="6299137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8297" y="291548"/>
            <a:ext cx="109993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3. Click the </a:t>
            </a:r>
            <a:r>
              <a:rPr lang="en-US" b="1" dirty="0" smtClean="0">
                <a:solidFill>
                  <a:schemeClr val="bg1"/>
                </a:solidFill>
              </a:rPr>
              <a:t>Launch Instance </a:t>
            </a:r>
            <a:r>
              <a:rPr lang="en-US" dirty="0" smtClean="0">
                <a:solidFill>
                  <a:schemeClr val="bg1"/>
                </a:solidFill>
              </a:rPr>
              <a:t>button and get ready to takeoff 🛫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978" y="1053665"/>
            <a:ext cx="5582109" cy="236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475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78297" y="6299137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8297" y="278296"/>
            <a:ext cx="10601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4. Give a name to your instance , this helps you easily identify it later.</a:t>
            </a:r>
            <a:r>
              <a:rPr lang="en-US" dirty="0" smtClean="0">
                <a:solidFill>
                  <a:srgbClr val="FFFF00"/>
                </a:solidFill>
              </a:rPr>
              <a:t>💡</a:t>
            </a:r>
          </a:p>
          <a:p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smtClean="0">
                <a:solidFill>
                  <a:srgbClr val="FFFF00"/>
                </a:solidFill>
              </a:rPr>
              <a:t>    </a:t>
            </a:r>
            <a:r>
              <a:rPr lang="en-US" dirty="0" smtClean="0">
                <a:solidFill>
                  <a:schemeClr val="bg1"/>
                </a:solidFill>
              </a:rPr>
              <a:t>(</a:t>
            </a:r>
            <a:r>
              <a:rPr lang="en-US" dirty="0" err="1" smtClean="0">
                <a:solidFill>
                  <a:schemeClr val="bg1"/>
                </a:solidFill>
              </a:rPr>
              <a:t>Eg</a:t>
            </a:r>
            <a:r>
              <a:rPr lang="en-US" dirty="0" smtClean="0">
                <a:solidFill>
                  <a:schemeClr val="bg1"/>
                </a:solidFill>
              </a:rPr>
              <a:t> – creating-</a:t>
            </a:r>
            <a:r>
              <a:rPr lang="en-US" dirty="0" err="1" smtClean="0">
                <a:solidFill>
                  <a:schemeClr val="bg1"/>
                </a:solidFill>
              </a:rPr>
              <a:t>linux</a:t>
            </a:r>
            <a:r>
              <a:rPr lang="en-US" dirty="0" smtClean="0">
                <a:solidFill>
                  <a:schemeClr val="bg1"/>
                </a:solidFill>
              </a:rPr>
              <a:t>-using-putty)</a:t>
            </a:r>
            <a:endParaRPr lang="en-IN" dirty="0">
              <a:solidFill>
                <a:srgbClr val="FFFF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04" y="1048178"/>
            <a:ext cx="10376453" cy="3298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002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78297" y="6299137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8297" y="251791"/>
            <a:ext cx="9303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5. Pick your </a:t>
            </a:r>
            <a:r>
              <a:rPr lang="en-US" b="1" dirty="0" smtClean="0">
                <a:solidFill>
                  <a:schemeClr val="bg1"/>
                </a:solidFill>
              </a:rPr>
              <a:t>Amazon Machine Image (AMI) </a:t>
            </a:r>
            <a:r>
              <a:rPr lang="en-US" dirty="0" smtClean="0">
                <a:solidFill>
                  <a:schemeClr val="bg1"/>
                </a:solidFill>
              </a:rPr>
              <a:t>(</a:t>
            </a:r>
            <a:r>
              <a:rPr lang="en-US" dirty="0" err="1" smtClean="0">
                <a:solidFill>
                  <a:schemeClr val="bg1"/>
                </a:solidFill>
              </a:rPr>
              <a:t>e.g</a:t>
            </a:r>
            <a:r>
              <a:rPr lang="en-US" dirty="0" smtClean="0">
                <a:solidFill>
                  <a:schemeClr val="bg1"/>
                </a:solidFill>
              </a:rPr>
              <a:t>… </a:t>
            </a:r>
            <a:r>
              <a:rPr lang="en-US" b="1" dirty="0" smtClean="0">
                <a:solidFill>
                  <a:schemeClr val="bg1"/>
                </a:solidFill>
              </a:rPr>
              <a:t>Ubuntu </a:t>
            </a:r>
            <a:r>
              <a:rPr lang="en-US" dirty="0" smtClean="0">
                <a:solidFill>
                  <a:schemeClr val="bg1"/>
                </a:solidFill>
              </a:rPr>
              <a:t>or </a:t>
            </a:r>
            <a:r>
              <a:rPr lang="en-US" b="1" dirty="0" smtClean="0">
                <a:solidFill>
                  <a:schemeClr val="bg1"/>
                </a:solidFill>
              </a:rPr>
              <a:t>Amazon Linux</a:t>
            </a:r>
            <a:r>
              <a:rPr lang="en-US" dirty="0" smtClean="0">
                <a:solidFill>
                  <a:schemeClr val="bg1"/>
                </a:solidFill>
              </a:rPr>
              <a:t>)</a:t>
            </a:r>
            <a:endParaRPr lang="en-IN" b="1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24" y="816223"/>
            <a:ext cx="10571259" cy="457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342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78297" y="6299137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8296" y="251792"/>
            <a:ext cx="11476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6</a:t>
            </a:r>
            <a:r>
              <a:rPr lang="en-US" b="1" dirty="0" smtClean="0">
                <a:solidFill>
                  <a:schemeClr val="bg1"/>
                </a:solidFill>
              </a:rPr>
              <a:t>. Choose an Instance Type </a:t>
            </a:r>
            <a:r>
              <a:rPr lang="en-US" dirty="0" smtClean="0">
                <a:solidFill>
                  <a:schemeClr val="bg1"/>
                </a:solidFill>
              </a:rPr>
              <a:t>: Select </a:t>
            </a:r>
            <a:r>
              <a:rPr lang="en-US" b="1" dirty="0" smtClean="0">
                <a:solidFill>
                  <a:schemeClr val="bg1"/>
                </a:solidFill>
              </a:rPr>
              <a:t>t2.micro , </a:t>
            </a:r>
            <a:r>
              <a:rPr lang="en-US" dirty="0" smtClean="0">
                <a:solidFill>
                  <a:schemeClr val="bg1"/>
                </a:solidFill>
              </a:rPr>
              <a:t>which is perfect for beginner and falls within free tier offering </a:t>
            </a:r>
            <a:r>
              <a:rPr lang="en-US" dirty="0" smtClean="0">
                <a:solidFill>
                  <a:srgbClr val="FFFF00"/>
                </a:solidFill>
              </a:rPr>
              <a:t>🎁</a:t>
            </a:r>
            <a:r>
              <a:rPr lang="en-US" dirty="0" smtClean="0">
                <a:solidFill>
                  <a:schemeClr val="bg1"/>
                </a:solidFill>
              </a:rPr>
              <a:t>. 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39" y="875940"/>
            <a:ext cx="8192643" cy="21323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5374" y="1723655"/>
            <a:ext cx="596348" cy="1987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5336598" y="1686852"/>
            <a:ext cx="1037698" cy="2614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278296" y="3275464"/>
            <a:ext cx="9554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7. In the </a:t>
            </a:r>
            <a:r>
              <a:rPr lang="en-US" b="1" dirty="0" smtClean="0">
                <a:solidFill>
                  <a:schemeClr val="bg1"/>
                </a:solidFill>
              </a:rPr>
              <a:t>Key Pair </a:t>
            </a:r>
            <a:r>
              <a:rPr lang="en-US" dirty="0" smtClean="0">
                <a:solidFill>
                  <a:schemeClr val="bg1"/>
                </a:solidFill>
              </a:rPr>
              <a:t>section, click on </a:t>
            </a:r>
            <a:r>
              <a:rPr lang="en-US" b="1" dirty="0" smtClean="0">
                <a:solidFill>
                  <a:schemeClr val="bg1"/>
                </a:solidFill>
              </a:rPr>
              <a:t>Create a new pair </a:t>
            </a:r>
            <a:r>
              <a:rPr lang="en-US" dirty="0" smtClean="0">
                <a:solidFill>
                  <a:schemeClr val="bg1"/>
                </a:solidFill>
              </a:rPr>
              <a:t>to generate a new key pair for secure access </a:t>
            </a:r>
            <a:r>
              <a:rPr lang="en-US" dirty="0" smtClean="0">
                <a:solidFill>
                  <a:srgbClr val="FFFF00"/>
                </a:solidFill>
              </a:rPr>
              <a:t>🔑</a:t>
            </a:r>
            <a:endParaRPr lang="en-IN" b="1" dirty="0">
              <a:solidFill>
                <a:srgbClr val="FFFF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39" y="3912018"/>
            <a:ext cx="8278380" cy="187918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029739" y="5141843"/>
            <a:ext cx="1338470" cy="4108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187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78297" y="6299137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8297" y="331304"/>
            <a:ext cx="7010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8. Give your key pair a name (e.g.. </a:t>
            </a:r>
            <a:r>
              <a:rPr lang="en-US" b="1" dirty="0">
                <a:solidFill>
                  <a:schemeClr val="bg1"/>
                </a:solidFill>
              </a:rPr>
              <a:t>m</a:t>
            </a:r>
            <a:r>
              <a:rPr lang="en-US" b="1" dirty="0" smtClean="0">
                <a:solidFill>
                  <a:schemeClr val="bg1"/>
                </a:solidFill>
              </a:rPr>
              <a:t>y-key-pair</a:t>
            </a:r>
            <a:r>
              <a:rPr lang="en-US" dirty="0" smtClean="0">
                <a:solidFill>
                  <a:schemeClr val="bg1"/>
                </a:solidFill>
              </a:rPr>
              <a:t>) </a:t>
            </a:r>
            <a:r>
              <a:rPr lang="en-US" dirty="0" smtClean="0">
                <a:solidFill>
                  <a:srgbClr val="FFC000"/>
                </a:solidFill>
              </a:rPr>
              <a:t>📜</a:t>
            </a:r>
            <a:endParaRPr lang="en-IN" dirty="0">
              <a:solidFill>
                <a:srgbClr val="FFC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47" y="877194"/>
            <a:ext cx="7484283" cy="460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704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78297" y="6299137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8297" y="265043"/>
            <a:ext cx="8282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9. Configure your </a:t>
            </a:r>
            <a:r>
              <a:rPr lang="en-US" b="1" dirty="0" smtClean="0">
                <a:solidFill>
                  <a:schemeClr val="bg1"/>
                </a:solidFill>
              </a:rPr>
              <a:t>Security Group </a:t>
            </a:r>
            <a:r>
              <a:rPr lang="en-US" dirty="0" smtClean="0">
                <a:solidFill>
                  <a:schemeClr val="bg1"/>
                </a:solidFill>
              </a:rPr>
              <a:t>, just make sure</a:t>
            </a:r>
            <a:r>
              <a:rPr lang="en-US" b="1" dirty="0" smtClean="0">
                <a:solidFill>
                  <a:schemeClr val="bg1"/>
                </a:solidFill>
              </a:rPr>
              <a:t> SSH </a:t>
            </a:r>
            <a:r>
              <a:rPr lang="en-US" dirty="0" smtClean="0">
                <a:solidFill>
                  <a:schemeClr val="bg1"/>
                </a:solidFill>
              </a:rPr>
              <a:t>(port 22) is allowed </a:t>
            </a:r>
            <a:r>
              <a:rPr lang="en-US" dirty="0" smtClean="0">
                <a:solidFill>
                  <a:srgbClr val="FFFF00"/>
                </a:solidFill>
              </a:rPr>
              <a:t>🔐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  <a:endParaRPr lang="en-IN" dirty="0">
              <a:solidFill>
                <a:srgbClr val="FFFF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73" y="744673"/>
            <a:ext cx="9465527" cy="498026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28870" y="3697357"/>
            <a:ext cx="2875721" cy="490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080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78297" y="6299137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8296" y="344557"/>
            <a:ext cx="6294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10. See the instance </a:t>
            </a:r>
            <a:r>
              <a:rPr lang="en-US" b="1" dirty="0" smtClean="0">
                <a:solidFill>
                  <a:schemeClr val="bg1"/>
                </a:solidFill>
              </a:rPr>
              <a:t>Summary </a:t>
            </a:r>
            <a:r>
              <a:rPr lang="en-US" dirty="0" smtClean="0">
                <a:solidFill>
                  <a:schemeClr val="bg1"/>
                </a:solidFill>
              </a:rPr>
              <a:t>and click on </a:t>
            </a:r>
            <a:r>
              <a:rPr lang="en-US" b="1" dirty="0" smtClean="0">
                <a:solidFill>
                  <a:schemeClr val="bg1"/>
                </a:solidFill>
              </a:rPr>
              <a:t>Launch Instance 📃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870" y="903701"/>
            <a:ext cx="6098331" cy="36020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51513" y="3737113"/>
            <a:ext cx="1921564" cy="38431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4823791" y="3684104"/>
            <a:ext cx="1749286" cy="490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437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78297" y="6299137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8297" y="357809"/>
            <a:ext cx="85211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What is </a:t>
            </a:r>
            <a:r>
              <a:rPr lang="en-IN" b="1" dirty="0" err="1" smtClean="0">
                <a:solidFill>
                  <a:schemeClr val="bg1"/>
                </a:solidFill>
              </a:rPr>
              <a:t>PuTTYgen</a:t>
            </a:r>
            <a:r>
              <a:rPr lang="en-IN" b="1" dirty="0" smtClean="0">
                <a:solidFill>
                  <a:schemeClr val="bg1"/>
                </a:solidFill>
              </a:rPr>
              <a:t> ? </a:t>
            </a:r>
            <a:r>
              <a:rPr lang="en-US" b="1" dirty="0" smtClean="0">
                <a:solidFill>
                  <a:srgbClr val="FFFF00"/>
                </a:solidFill>
              </a:rPr>
              <a:t>🔑</a:t>
            </a:r>
            <a:endParaRPr lang="en-IN" b="1" dirty="0">
              <a:solidFill>
                <a:srgbClr val="FFFF00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PuTTYgen</a:t>
            </a:r>
            <a:r>
              <a:rPr lang="en-US" dirty="0">
                <a:solidFill>
                  <a:schemeClr val="bg1"/>
                </a:solidFill>
              </a:rPr>
              <a:t> is a tool used to generate and convert SSH key pairs. It allows you to convert AWS EC2 key pairs (.</a:t>
            </a:r>
            <a:r>
              <a:rPr lang="en-US" dirty="0" err="1">
                <a:solidFill>
                  <a:schemeClr val="bg1"/>
                </a:solidFill>
              </a:rPr>
              <a:t>pem</a:t>
            </a:r>
            <a:r>
              <a:rPr lang="en-US" dirty="0">
                <a:solidFill>
                  <a:schemeClr val="bg1"/>
                </a:solidFill>
              </a:rPr>
              <a:t> files) into </a:t>
            </a:r>
            <a:r>
              <a:rPr lang="en-US" dirty="0" err="1">
                <a:solidFill>
                  <a:schemeClr val="bg1"/>
                </a:solidFill>
              </a:rPr>
              <a:t>PuTTY</a:t>
            </a:r>
            <a:r>
              <a:rPr lang="en-US" dirty="0">
                <a:solidFill>
                  <a:schemeClr val="bg1"/>
                </a:solidFill>
              </a:rPr>
              <a:t>-compatible format (.</a:t>
            </a:r>
            <a:r>
              <a:rPr lang="en-US" dirty="0" err="1">
                <a:solidFill>
                  <a:schemeClr val="bg1"/>
                </a:solidFill>
              </a:rPr>
              <a:t>ppk</a:t>
            </a:r>
            <a:r>
              <a:rPr lang="en-US" dirty="0">
                <a:solidFill>
                  <a:schemeClr val="bg1"/>
                </a:solidFill>
              </a:rPr>
              <a:t>), which is required for securely connecting to your server via </a:t>
            </a:r>
            <a:r>
              <a:rPr lang="en-US" dirty="0" err="1">
                <a:solidFill>
                  <a:schemeClr val="bg1"/>
                </a:solidFill>
              </a:rPr>
              <a:t>PuTTY</a:t>
            </a:r>
            <a:r>
              <a:rPr lang="en-US" dirty="0">
                <a:solidFill>
                  <a:schemeClr val="bg1"/>
                </a:solidFill>
              </a:rPr>
              <a:t>. </a:t>
            </a:r>
            <a:r>
              <a:rPr lang="en-US" dirty="0" smtClean="0">
                <a:solidFill>
                  <a:srgbClr val="FFFF00"/>
                </a:solidFill>
              </a:rPr>
              <a:t>🔐</a:t>
            </a:r>
            <a:endParaRPr lang="en-US" dirty="0">
              <a:solidFill>
                <a:srgbClr val="FFFF00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 smtClean="0">
              <a:solidFill>
                <a:schemeClr val="bg1"/>
              </a:solidFill>
            </a:endParaRPr>
          </a:p>
          <a:p>
            <a:r>
              <a:rPr lang="en-IN" b="1" dirty="0" smtClean="0">
                <a:solidFill>
                  <a:schemeClr val="bg1"/>
                </a:solidFill>
              </a:rPr>
              <a:t>Why </a:t>
            </a:r>
            <a:r>
              <a:rPr lang="en-IN" b="1" dirty="0">
                <a:solidFill>
                  <a:schemeClr val="bg1"/>
                </a:solidFill>
              </a:rPr>
              <a:t>We Use </a:t>
            </a:r>
            <a:r>
              <a:rPr lang="en-IN" b="1" dirty="0" err="1">
                <a:solidFill>
                  <a:schemeClr val="bg1"/>
                </a:solidFill>
              </a:rPr>
              <a:t>PuTTYgen</a:t>
            </a:r>
            <a:r>
              <a:rPr lang="en-IN" b="1" dirty="0" smtClean="0">
                <a:solidFill>
                  <a:schemeClr val="bg1"/>
                </a:solidFill>
              </a:rPr>
              <a:t>? </a:t>
            </a:r>
            <a:r>
              <a:rPr lang="en-US" b="1" dirty="0" smtClean="0">
                <a:solidFill>
                  <a:srgbClr val="FFFF00"/>
                </a:solidFill>
              </a:rPr>
              <a:t>🔑</a:t>
            </a:r>
            <a:r>
              <a:rPr lang="en-IN" b="1" dirty="0" smtClean="0">
                <a:solidFill>
                  <a:schemeClr val="bg1"/>
                </a:solidFill>
              </a:rPr>
              <a:t> </a:t>
            </a:r>
            <a:endParaRPr lang="en-IN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We use </a:t>
            </a:r>
            <a:r>
              <a:rPr lang="en-US" dirty="0" err="1">
                <a:solidFill>
                  <a:schemeClr val="bg1"/>
                </a:solidFill>
              </a:rPr>
              <a:t>PuTTYgen</a:t>
            </a:r>
            <a:r>
              <a:rPr lang="en-US" dirty="0">
                <a:solidFill>
                  <a:schemeClr val="bg1"/>
                </a:solidFill>
              </a:rPr>
              <a:t> to convert AWS EC2 key pairs (.</a:t>
            </a:r>
            <a:r>
              <a:rPr lang="en-US" dirty="0" err="1">
                <a:solidFill>
                  <a:schemeClr val="bg1"/>
                </a:solidFill>
              </a:rPr>
              <a:t>pem</a:t>
            </a:r>
            <a:r>
              <a:rPr lang="en-US" dirty="0">
                <a:solidFill>
                  <a:schemeClr val="bg1"/>
                </a:solidFill>
              </a:rPr>
              <a:t> files) into a </a:t>
            </a:r>
            <a:r>
              <a:rPr lang="en-US" dirty="0" err="1">
                <a:solidFill>
                  <a:schemeClr val="bg1"/>
                </a:solidFill>
              </a:rPr>
              <a:t>PuTTY</a:t>
            </a:r>
            <a:r>
              <a:rPr lang="en-US" dirty="0">
                <a:solidFill>
                  <a:schemeClr val="bg1"/>
                </a:solidFill>
              </a:rPr>
              <a:t>-compatible format (.</a:t>
            </a:r>
            <a:r>
              <a:rPr lang="en-US" dirty="0" err="1">
                <a:solidFill>
                  <a:schemeClr val="bg1"/>
                </a:solidFill>
              </a:rPr>
              <a:t>ppk</a:t>
            </a:r>
            <a:r>
              <a:rPr lang="en-US" dirty="0">
                <a:solidFill>
                  <a:schemeClr val="bg1"/>
                </a:solidFill>
              </a:rPr>
              <a:t>), allowing us to securely connect to a remote Linux server using </a:t>
            </a:r>
            <a:r>
              <a:rPr lang="en-US" dirty="0" err="1">
                <a:solidFill>
                  <a:schemeClr val="bg1"/>
                </a:solidFill>
              </a:rPr>
              <a:t>PuTTY</a:t>
            </a:r>
            <a:r>
              <a:rPr lang="en-US" dirty="0">
                <a:solidFill>
                  <a:schemeClr val="bg1"/>
                </a:solidFill>
              </a:rPr>
              <a:t>. Without this conversion, </a:t>
            </a:r>
            <a:r>
              <a:rPr lang="en-US" dirty="0" err="1">
                <a:solidFill>
                  <a:schemeClr val="bg1"/>
                </a:solidFill>
              </a:rPr>
              <a:t>PuTTY</a:t>
            </a:r>
            <a:r>
              <a:rPr lang="en-US" dirty="0">
                <a:solidFill>
                  <a:schemeClr val="bg1"/>
                </a:solidFill>
              </a:rPr>
              <a:t> cannot authenticate the connection. </a:t>
            </a:r>
            <a:r>
              <a:rPr lang="en-US" dirty="0" smtClean="0">
                <a:solidFill>
                  <a:srgbClr val="00B0F0"/>
                </a:solidFill>
              </a:rPr>
              <a:t>💻</a:t>
            </a: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8297" y="4412974"/>
            <a:ext cx="89319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II. CONVERT YOUR .PEM FILE TO .PPK USING PUTTYGEN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    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   1. Open </a:t>
            </a:r>
            <a:r>
              <a:rPr lang="en-US" dirty="0" err="1">
                <a:solidFill>
                  <a:schemeClr val="bg1"/>
                </a:solidFill>
              </a:rPr>
              <a:t>PuTTYgen</a:t>
            </a:r>
            <a:r>
              <a:rPr lang="en-US" dirty="0">
                <a:solidFill>
                  <a:schemeClr val="bg1"/>
                </a:solidFill>
              </a:rPr>
              <a:t>, your magical key converter! </a:t>
            </a:r>
            <a:r>
              <a:rPr lang="en-US" dirty="0" smtClean="0">
                <a:solidFill>
                  <a:srgbClr val="FFFF00"/>
                </a:solidFill>
              </a:rPr>
              <a:t>✨</a:t>
            </a:r>
            <a:endParaRPr lang="en-US" dirty="0">
              <a:solidFill>
                <a:srgbClr val="FFFF00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475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78297" y="6299137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392" t="1709"/>
          <a:stretch/>
        </p:blipFill>
        <p:spPr>
          <a:xfrm>
            <a:off x="519684" y="543340"/>
            <a:ext cx="9392942" cy="511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400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78297" y="6299137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8297" y="251791"/>
            <a:ext cx="6586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2. Click </a:t>
            </a:r>
            <a:r>
              <a:rPr lang="en-US" b="1" dirty="0" smtClean="0">
                <a:solidFill>
                  <a:schemeClr val="bg1"/>
                </a:solidFill>
              </a:rPr>
              <a:t>Load </a:t>
            </a:r>
            <a:r>
              <a:rPr lang="en-US" dirty="0" smtClean="0">
                <a:solidFill>
                  <a:schemeClr val="bg1"/>
                </a:solidFill>
              </a:rPr>
              <a:t>and select your freshly downloaded .</a:t>
            </a:r>
            <a:r>
              <a:rPr lang="en-US" dirty="0" err="1" smtClean="0">
                <a:solidFill>
                  <a:schemeClr val="bg1"/>
                </a:solidFill>
              </a:rPr>
              <a:t>pem.file</a:t>
            </a:r>
            <a:r>
              <a:rPr lang="en-US" dirty="0" smtClean="0">
                <a:solidFill>
                  <a:schemeClr val="bg1"/>
                </a:solidFill>
              </a:rPr>
              <a:t>. </a:t>
            </a:r>
            <a:r>
              <a:rPr lang="en-US" dirty="0" smtClean="0">
                <a:solidFill>
                  <a:srgbClr val="FFFF00"/>
                </a:solidFill>
              </a:rPr>
              <a:t>🔓</a:t>
            </a:r>
            <a:endParaRPr lang="en-IN" dirty="0">
              <a:solidFill>
                <a:srgbClr val="FFFF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712" t="1341" b="19800"/>
          <a:stretch/>
        </p:blipFill>
        <p:spPr>
          <a:xfrm>
            <a:off x="596347" y="901146"/>
            <a:ext cx="7699513" cy="41346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88765" y="4386470"/>
            <a:ext cx="1948070" cy="3180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708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78297" y="6299137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pic>
        <p:nvPicPr>
          <p:cNvPr id="4" name="Picture 3" descr="PuTTY Key Generato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826" y="745106"/>
            <a:ext cx="9276522" cy="496367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0" y="4253328"/>
            <a:ext cx="2213113" cy="4511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694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78297" y="6299137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pic>
        <p:nvPicPr>
          <p:cNvPr id="4" name="Picture 3" descr="Save private key as: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13" y="781878"/>
            <a:ext cx="10230678" cy="493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82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78297" y="6299137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314" y="154745"/>
            <a:ext cx="97933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III. CONNECT TO YOUR EC2 INSTANCE WITH PUTTY </a:t>
            </a:r>
            <a:r>
              <a:rPr lang="en-US" b="1" dirty="0" smtClean="0">
                <a:solidFill>
                  <a:schemeClr val="accent1"/>
                </a:solidFill>
              </a:rPr>
              <a:t>💻</a:t>
            </a:r>
            <a:endParaRPr lang="en-US" b="1" dirty="0">
              <a:solidFill>
                <a:schemeClr val="accent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1. Open </a:t>
            </a:r>
            <a:r>
              <a:rPr lang="en-US" b="1" dirty="0" err="1">
                <a:solidFill>
                  <a:schemeClr val="bg1"/>
                </a:solidFill>
              </a:rPr>
              <a:t>PuTTY</a:t>
            </a:r>
            <a:r>
              <a:rPr lang="en-US" dirty="0">
                <a:solidFill>
                  <a:schemeClr val="bg1"/>
                </a:solidFill>
              </a:rPr>
              <a:t> and get ready to teleport into your EC2 instance. </a:t>
            </a:r>
            <a:r>
              <a:rPr lang="en-US" dirty="0" smtClean="0">
                <a:solidFill>
                  <a:schemeClr val="accent1"/>
                </a:solidFill>
              </a:rPr>
              <a:t>🌐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2. In </a:t>
            </a:r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b="1" dirty="0">
                <a:solidFill>
                  <a:schemeClr val="bg1"/>
                </a:solidFill>
              </a:rPr>
              <a:t>Host Name </a:t>
            </a:r>
            <a:r>
              <a:rPr lang="en-US" dirty="0">
                <a:solidFill>
                  <a:schemeClr val="bg1"/>
                </a:solidFill>
              </a:rPr>
              <a:t>field, enter the Public </a:t>
            </a:r>
            <a:r>
              <a:rPr lang="en-US" b="1" dirty="0">
                <a:solidFill>
                  <a:schemeClr val="bg1"/>
                </a:solidFill>
              </a:rPr>
              <a:t>IP Address </a:t>
            </a:r>
            <a:r>
              <a:rPr lang="en-US" dirty="0">
                <a:solidFill>
                  <a:schemeClr val="bg1"/>
                </a:solidFill>
              </a:rPr>
              <a:t>or </a:t>
            </a:r>
            <a:r>
              <a:rPr lang="en-US" b="1" dirty="0">
                <a:solidFill>
                  <a:schemeClr val="bg1"/>
                </a:solidFill>
              </a:rPr>
              <a:t>Public DNS </a:t>
            </a:r>
            <a:r>
              <a:rPr lang="en-US" dirty="0">
                <a:solidFill>
                  <a:schemeClr val="bg1"/>
                </a:solidFill>
              </a:rPr>
              <a:t>of your EC2 instance</a:t>
            </a:r>
            <a:r>
              <a:rPr lang="en-US" dirty="0" smtClean="0">
                <a:solidFill>
                  <a:schemeClr val="bg1"/>
                </a:solidFill>
              </a:rPr>
              <a:t>. </a:t>
            </a:r>
            <a:r>
              <a:rPr lang="en-US" dirty="0" smtClean="0">
                <a:solidFill>
                  <a:srgbClr val="FFC000"/>
                </a:solidFill>
              </a:rPr>
              <a:t>🚀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20" y="1909071"/>
            <a:ext cx="6058193" cy="4115374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2835965" y="2928730"/>
            <a:ext cx="194807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99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78297" y="6299137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74" y="516835"/>
            <a:ext cx="11184835" cy="514608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168348" y="1762539"/>
            <a:ext cx="1948069" cy="5035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046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78297" y="6299137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975" y="762037"/>
            <a:ext cx="7142921" cy="48502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869634" y="1775790"/>
            <a:ext cx="2213113" cy="4373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602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8297" y="6299138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520" y="1708473"/>
            <a:ext cx="2054171" cy="3419952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1007166" y="2688411"/>
            <a:ext cx="357809" cy="157700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5180" y="2481065"/>
            <a:ext cx="1506874" cy="1991702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>
            <a:off x="3807568" y="3163711"/>
            <a:ext cx="313857" cy="90114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543" y="2744328"/>
            <a:ext cx="1857231" cy="114469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539668" y="3163711"/>
            <a:ext cx="1226106" cy="3132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78297" y="304800"/>
            <a:ext cx="5234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3. Go </a:t>
            </a:r>
            <a:r>
              <a:rPr lang="en-US" dirty="0">
                <a:solidFill>
                  <a:schemeClr val="bg1"/>
                </a:solidFill>
              </a:rPr>
              <a:t>to </a:t>
            </a:r>
            <a:r>
              <a:rPr lang="en-US" b="1" dirty="0">
                <a:solidFill>
                  <a:schemeClr val="bg1"/>
                </a:solidFill>
              </a:rPr>
              <a:t>SSH &gt; </a:t>
            </a:r>
            <a:r>
              <a:rPr lang="en-US" b="1" dirty="0" err="1">
                <a:solidFill>
                  <a:schemeClr val="bg1"/>
                </a:solidFill>
              </a:rPr>
              <a:t>Auth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on the left menu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  <a:r>
              <a:rPr lang="en-US" dirty="0" smtClean="0">
                <a:solidFill>
                  <a:srgbClr val="FFC000"/>
                </a:solidFill>
              </a:rPr>
              <a:t>📂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714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8297" y="6298745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985" y="1169058"/>
            <a:ext cx="7254615" cy="45028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296" y="-137681"/>
            <a:ext cx="77657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4 .Under </a:t>
            </a:r>
            <a:r>
              <a:rPr lang="en-US" dirty="0">
                <a:solidFill>
                  <a:schemeClr val="bg1"/>
                </a:solidFill>
              </a:rPr>
              <a:t>Private key file for authentication, browse and select your </a:t>
            </a:r>
            <a:r>
              <a:rPr lang="en-US" b="1" dirty="0">
                <a:solidFill>
                  <a:schemeClr val="bg1"/>
                </a:solidFill>
              </a:rPr>
              <a:t>.</a:t>
            </a:r>
            <a:r>
              <a:rPr lang="en-US" b="1" dirty="0" err="1">
                <a:solidFill>
                  <a:schemeClr val="bg1"/>
                </a:solidFill>
              </a:rPr>
              <a:t>ppk</a:t>
            </a:r>
            <a:r>
              <a:rPr lang="en-US" b="1" dirty="0">
                <a:solidFill>
                  <a:schemeClr val="bg1"/>
                </a:solidFill>
              </a:rPr>
              <a:t> file</a:t>
            </a:r>
            <a:r>
              <a:rPr lang="en-US" b="1" dirty="0" smtClean="0">
                <a:solidFill>
                  <a:schemeClr val="bg1"/>
                </a:solidFill>
              </a:rPr>
              <a:t>.</a:t>
            </a:r>
            <a:r>
              <a:rPr lang="en-US" b="1" dirty="0" smtClean="0">
                <a:solidFill>
                  <a:srgbClr val="FFFF00"/>
                </a:solidFill>
              </a:rPr>
              <a:t>🔑</a:t>
            </a:r>
            <a:r>
              <a:rPr lang="en-US" b="1" dirty="0" smtClean="0">
                <a:solidFill>
                  <a:schemeClr val="bg1"/>
                </a:solidFill>
              </a:rPr>
              <a:t> </a:t>
            </a:r>
            <a:endParaRPr lang="en-US" b="1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445565" y="2080591"/>
            <a:ext cx="2504661" cy="1325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917635" y="2213113"/>
            <a:ext cx="1311965" cy="3578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3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8297" y="6335836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210" y="821635"/>
            <a:ext cx="8786190" cy="5022574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>
            <a:off x="4373217" y="1616765"/>
            <a:ext cx="1537253" cy="111318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294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8297" y="6343821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443" y="1113182"/>
            <a:ext cx="6930887" cy="438646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76730" y="5075583"/>
            <a:ext cx="1046922" cy="38431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363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3977" y="6303099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313977" y="-145775"/>
            <a:ext cx="4417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5. Hit </a:t>
            </a:r>
            <a:r>
              <a:rPr lang="en-US" b="1" dirty="0">
                <a:solidFill>
                  <a:schemeClr val="bg1"/>
                </a:solidFill>
              </a:rPr>
              <a:t>Open</a:t>
            </a:r>
            <a:r>
              <a:rPr lang="en-US" dirty="0">
                <a:solidFill>
                  <a:schemeClr val="bg1"/>
                </a:solidFill>
              </a:rPr>
              <a:t> and voilà, you’re almost there! 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65" y="1054554"/>
            <a:ext cx="7380235" cy="308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173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3976" y="6348309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313976" y="318052"/>
            <a:ext cx="66964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IV</a:t>
            </a:r>
            <a:r>
              <a:rPr lang="en-US" b="1" dirty="0">
                <a:solidFill>
                  <a:schemeClr val="bg1"/>
                </a:solidFill>
              </a:rPr>
              <a:t>. LOGIN LIKE A PRO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  1.Depending </a:t>
            </a:r>
            <a:r>
              <a:rPr lang="en-US" dirty="0">
                <a:solidFill>
                  <a:schemeClr val="bg1"/>
                </a:solidFill>
              </a:rPr>
              <a:t>on your AMI, use the </a:t>
            </a:r>
            <a:r>
              <a:rPr lang="en-US" b="1" dirty="0">
                <a:solidFill>
                  <a:schemeClr val="bg1"/>
                </a:solidFill>
              </a:rPr>
              <a:t>default username </a:t>
            </a:r>
            <a:r>
              <a:rPr lang="en-US" dirty="0">
                <a:solidFill>
                  <a:schemeClr val="bg1"/>
                </a:solidFill>
              </a:rPr>
              <a:t>to log in: - 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      </a:t>
            </a:r>
            <a:r>
              <a:rPr lang="en-IN" b="1" dirty="0" smtClean="0">
                <a:solidFill>
                  <a:schemeClr val="bg1"/>
                </a:solidFill>
              </a:rPr>
              <a:t>Amazon </a:t>
            </a:r>
            <a:r>
              <a:rPr lang="en-IN" b="1" dirty="0">
                <a:solidFill>
                  <a:schemeClr val="bg1"/>
                </a:solidFill>
              </a:rPr>
              <a:t>Linux</a:t>
            </a:r>
            <a:r>
              <a:rPr lang="en-IN" dirty="0">
                <a:solidFill>
                  <a:schemeClr val="bg1"/>
                </a:solidFill>
              </a:rPr>
              <a:t>: ec2-user 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      </a:t>
            </a:r>
            <a:r>
              <a:rPr lang="en-IN" b="1" dirty="0" smtClean="0">
                <a:solidFill>
                  <a:schemeClr val="bg1"/>
                </a:solidFill>
              </a:rPr>
              <a:t>Ubuntu</a:t>
            </a:r>
            <a:r>
              <a:rPr lang="en-IN" dirty="0">
                <a:solidFill>
                  <a:schemeClr val="bg1"/>
                </a:solidFill>
              </a:rPr>
              <a:t>: </a:t>
            </a:r>
            <a:r>
              <a:rPr lang="en-IN" dirty="0" err="1">
                <a:solidFill>
                  <a:schemeClr val="bg1"/>
                </a:solidFill>
              </a:rPr>
              <a:t>ubuntu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      </a:t>
            </a:r>
            <a:r>
              <a:rPr lang="en-IN" b="1" dirty="0" smtClean="0">
                <a:solidFill>
                  <a:schemeClr val="bg1"/>
                </a:solidFill>
              </a:rPr>
              <a:t>CentOS</a:t>
            </a:r>
            <a:r>
              <a:rPr lang="en-IN" dirty="0">
                <a:solidFill>
                  <a:schemeClr val="bg1"/>
                </a:solidFill>
              </a:rPr>
              <a:t>: centos 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120"/>
          <a:stretch/>
        </p:blipFill>
        <p:spPr>
          <a:xfrm>
            <a:off x="599473" y="2512684"/>
            <a:ext cx="6403280" cy="1860533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 flipV="1">
            <a:off x="1470991" y="3763617"/>
            <a:ext cx="927652" cy="1325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887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3975" y="6285812"/>
            <a:ext cx="11749580" cy="27699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/>
                </a:solidFill>
              </a:rPr>
              <a:t>MACHINE LEARNING WITH PUTTY PROJECT DOCUMENTATION                                                                                                                                     </a:t>
            </a:r>
            <a:r>
              <a:rPr lang="en-US" sz="1200" dirty="0" smtClean="0">
                <a:solidFill>
                  <a:schemeClr val="bg1"/>
                </a:solidFill>
              </a:rPr>
              <a:t>                              BY </a:t>
            </a:r>
            <a:r>
              <a:rPr lang="en-US" sz="1200" dirty="0">
                <a:solidFill>
                  <a:schemeClr val="bg1"/>
                </a:solidFill>
              </a:rPr>
              <a:t>DARSHAN PATIL</a:t>
            </a:r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4745" y="154745"/>
            <a:ext cx="11873132" cy="6527409"/>
          </a:xfrm>
          <a:prstGeom prst="rect">
            <a:avLst/>
          </a:prstGeom>
          <a:noFill/>
          <a:ln w="28575">
            <a:solidFill>
              <a:schemeClr val="bg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313975" y="318052"/>
            <a:ext cx="79553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2. You’re </a:t>
            </a:r>
            <a:r>
              <a:rPr lang="en-US" dirty="0">
                <a:solidFill>
                  <a:schemeClr val="bg1"/>
                </a:solidFill>
              </a:rPr>
              <a:t>officially inside your shiny new Linux machine! 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accent1"/>
                </a:solidFill>
              </a:rPr>
              <a:t>💻</a:t>
            </a:r>
            <a:r>
              <a:rPr lang="en-US" dirty="0" smtClean="0">
                <a:solidFill>
                  <a:srgbClr val="FFFF00"/>
                </a:solidFill>
              </a:rPr>
              <a:t>✨</a:t>
            </a:r>
            <a:endParaRPr lang="en-US" dirty="0">
              <a:solidFill>
                <a:srgbClr val="FFFF00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948" y="1550504"/>
            <a:ext cx="7952767" cy="341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594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244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969</Words>
  <Application>Microsoft Office PowerPoint</Application>
  <PresentationFormat>Widescreen</PresentationFormat>
  <Paragraphs>91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Lenovolaptop</dc:creator>
  <cp:lastModifiedBy>Lenovolaptop</cp:lastModifiedBy>
  <cp:revision>43</cp:revision>
  <dcterms:created xsi:type="dcterms:W3CDTF">2026-06-27T13:48:32Z</dcterms:created>
  <dcterms:modified xsi:type="dcterms:W3CDTF">2026-07-16T04:46:16Z</dcterms:modified>
</cp:coreProperties>
</file>